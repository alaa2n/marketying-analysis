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63" r:id="rId3"/>
    <p:sldId id="259" r:id="rId4"/>
    <p:sldId id="265" r:id="rId5"/>
    <p:sldId id="261" r:id="rId6"/>
    <p:sldId id="266" r:id="rId7"/>
    <p:sldId id="262" r:id="rId8"/>
    <p:sldId id="267"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E2125-EB2D-4716-8AE2-6679A50160D7}" v="13" dt="2024-09-04T07:40:37.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9" autoAdjust="0"/>
    <p:restoredTop sz="96236" autoAdjust="0"/>
  </p:normalViewPr>
  <p:slideViewPr>
    <p:cSldViewPr snapToGrid="0">
      <p:cViewPr>
        <p:scale>
          <a:sx n="62" d="100"/>
          <a:sy n="62" d="100"/>
        </p:scale>
        <p:origin x="1028"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Ahmad" userId="d3510f94-5988-4c3a-9ef9-f2f99b91dc31" providerId="ADAL" clId="{222E2125-EB2D-4716-8AE2-6679A50160D7}"/>
    <pc:docChg chg="undo custSel addSld delSld modSld sldOrd">
      <pc:chgData name="Ali Ahmad" userId="d3510f94-5988-4c3a-9ef9-f2f99b91dc31" providerId="ADAL" clId="{222E2125-EB2D-4716-8AE2-6679A50160D7}" dt="2024-09-04T07:45:05.364" v="1498" actId="1076"/>
      <pc:docMkLst>
        <pc:docMk/>
      </pc:docMkLst>
      <pc:sldChg chg="modSp new mod">
        <pc:chgData name="Ali Ahmad" userId="d3510f94-5988-4c3a-9ef9-f2f99b91dc31" providerId="ADAL" clId="{222E2125-EB2D-4716-8AE2-6679A50160D7}" dt="2024-09-03T16:37:36.908" v="1372" actId="20577"/>
        <pc:sldMkLst>
          <pc:docMk/>
          <pc:sldMk cId="542270636" sldId="256"/>
        </pc:sldMkLst>
        <pc:spChg chg="mod">
          <ac:chgData name="Ali Ahmad" userId="d3510f94-5988-4c3a-9ef9-f2f99b91dc31" providerId="ADAL" clId="{222E2125-EB2D-4716-8AE2-6679A50160D7}" dt="2024-09-03T15:18:09.861" v="60"/>
          <ac:spMkLst>
            <pc:docMk/>
            <pc:sldMk cId="542270636" sldId="256"/>
            <ac:spMk id="2" creationId="{A193D5CC-2FCA-6593-9BCE-672700C84C63}"/>
          </ac:spMkLst>
        </pc:spChg>
        <pc:spChg chg="mod">
          <ac:chgData name="Ali Ahmad" userId="d3510f94-5988-4c3a-9ef9-f2f99b91dc31" providerId="ADAL" clId="{222E2125-EB2D-4716-8AE2-6679A50160D7}" dt="2024-09-03T16:37:36.908" v="1372" actId="20577"/>
          <ac:spMkLst>
            <pc:docMk/>
            <pc:sldMk cId="542270636" sldId="256"/>
            <ac:spMk id="3" creationId="{F3978D01-91D1-9F24-CCFC-EB29E23342F8}"/>
          </ac:spMkLst>
        </pc:spChg>
      </pc:sldChg>
      <pc:sldChg chg="addSp delSp modSp new mod modClrScheme chgLayout">
        <pc:chgData name="Ali Ahmad" userId="d3510f94-5988-4c3a-9ef9-f2f99b91dc31" providerId="ADAL" clId="{222E2125-EB2D-4716-8AE2-6679A50160D7}" dt="2024-09-04T07:41:01.756" v="1492" actId="27636"/>
        <pc:sldMkLst>
          <pc:docMk/>
          <pc:sldMk cId="2515083719" sldId="257"/>
        </pc:sldMkLst>
        <pc:spChg chg="del mod ord">
          <ac:chgData name="Ali Ahmad" userId="d3510f94-5988-4c3a-9ef9-f2f99b91dc31" providerId="ADAL" clId="{222E2125-EB2D-4716-8AE2-6679A50160D7}" dt="2024-09-03T15:18:13.844" v="61" actId="700"/>
          <ac:spMkLst>
            <pc:docMk/>
            <pc:sldMk cId="2515083719" sldId="257"/>
            <ac:spMk id="2" creationId="{7A393D28-80C5-2EA3-AB47-7C2547243E14}"/>
          </ac:spMkLst>
        </pc:spChg>
        <pc:spChg chg="del mod ord">
          <ac:chgData name="Ali Ahmad" userId="d3510f94-5988-4c3a-9ef9-f2f99b91dc31" providerId="ADAL" clId="{222E2125-EB2D-4716-8AE2-6679A50160D7}" dt="2024-09-03T15:18:13.844" v="61" actId="700"/>
          <ac:spMkLst>
            <pc:docMk/>
            <pc:sldMk cId="2515083719" sldId="257"/>
            <ac:spMk id="3" creationId="{76C4CED6-6EB1-E0A7-D00F-4C229F9B425D}"/>
          </ac:spMkLst>
        </pc:spChg>
        <pc:spChg chg="add mod ord">
          <ac:chgData name="Ali Ahmad" userId="d3510f94-5988-4c3a-9ef9-f2f99b91dc31" providerId="ADAL" clId="{222E2125-EB2D-4716-8AE2-6679A50160D7}" dt="2024-09-03T15:18:24.578" v="72" actId="700"/>
          <ac:spMkLst>
            <pc:docMk/>
            <pc:sldMk cId="2515083719" sldId="257"/>
            <ac:spMk id="4" creationId="{E14306C0-546A-60F1-F05E-BED638FBB9EB}"/>
          </ac:spMkLst>
        </pc:spChg>
        <pc:spChg chg="add del mod ord">
          <ac:chgData name="Ali Ahmad" userId="d3510f94-5988-4c3a-9ef9-f2f99b91dc31" providerId="ADAL" clId="{222E2125-EB2D-4716-8AE2-6679A50160D7}" dt="2024-09-03T15:18:24.578" v="72" actId="700"/>
          <ac:spMkLst>
            <pc:docMk/>
            <pc:sldMk cId="2515083719" sldId="257"/>
            <ac:spMk id="5" creationId="{FCD3770C-77AD-7DC6-979D-30BB4E126742}"/>
          </ac:spMkLst>
        </pc:spChg>
        <pc:spChg chg="add mod ord">
          <ac:chgData name="Ali Ahmad" userId="d3510f94-5988-4c3a-9ef9-f2f99b91dc31" providerId="ADAL" clId="{222E2125-EB2D-4716-8AE2-6679A50160D7}" dt="2024-09-04T07:41:01.756" v="1492" actId="27636"/>
          <ac:spMkLst>
            <pc:docMk/>
            <pc:sldMk cId="2515083719" sldId="257"/>
            <ac:spMk id="6" creationId="{63336F16-91A5-5CAF-84F3-64F6D6DE9D0D}"/>
          </ac:spMkLst>
        </pc:spChg>
        <pc:spChg chg="add del mod ord">
          <ac:chgData name="Ali Ahmad" userId="d3510f94-5988-4c3a-9ef9-f2f99b91dc31" providerId="ADAL" clId="{222E2125-EB2D-4716-8AE2-6679A50160D7}" dt="2024-09-03T16:02:44.317" v="326" actId="478"/>
          <ac:spMkLst>
            <pc:docMk/>
            <pc:sldMk cId="2515083719" sldId="257"/>
            <ac:spMk id="7" creationId="{EE07C867-FC63-18CC-2DA3-6A428F4DC2EF}"/>
          </ac:spMkLst>
        </pc:spChg>
        <pc:spChg chg="add mod">
          <ac:chgData name="Ali Ahmad" userId="d3510f94-5988-4c3a-9ef9-f2f99b91dc31" providerId="ADAL" clId="{222E2125-EB2D-4716-8AE2-6679A50160D7}" dt="2024-09-03T16:04:18.222" v="344" actId="1582"/>
          <ac:spMkLst>
            <pc:docMk/>
            <pc:sldMk cId="2515083719" sldId="257"/>
            <ac:spMk id="13" creationId="{DB459B85-8FF8-3F68-F083-4F22D9FF99A0}"/>
          </ac:spMkLst>
        </pc:spChg>
        <pc:spChg chg="add mod">
          <ac:chgData name="Ali Ahmad" userId="d3510f94-5988-4c3a-9ef9-f2f99b91dc31" providerId="ADAL" clId="{222E2125-EB2D-4716-8AE2-6679A50160D7}" dt="2024-09-03T16:04:44.532" v="348" actId="1582"/>
          <ac:spMkLst>
            <pc:docMk/>
            <pc:sldMk cId="2515083719" sldId="257"/>
            <ac:spMk id="14" creationId="{622A03A8-9FE6-D649-8831-F488E4DEDF7E}"/>
          </ac:spMkLst>
        </pc:spChg>
        <pc:spChg chg="add">
          <ac:chgData name="Ali Ahmad" userId="d3510f94-5988-4c3a-9ef9-f2f99b91dc31" providerId="ADAL" clId="{222E2125-EB2D-4716-8AE2-6679A50160D7}" dt="2024-09-03T16:13:31.555" v="952"/>
          <ac:spMkLst>
            <pc:docMk/>
            <pc:sldMk cId="2515083719" sldId="257"/>
            <ac:spMk id="15" creationId="{295AA5A2-9F1E-9394-4498-BBF6697908B2}"/>
          </ac:spMkLst>
        </pc:spChg>
        <pc:picChg chg="add mod">
          <ac:chgData name="Ali Ahmad" userId="d3510f94-5988-4c3a-9ef9-f2f99b91dc31" providerId="ADAL" clId="{222E2125-EB2D-4716-8AE2-6679A50160D7}" dt="2024-09-03T16:02:57.567" v="333" actId="14100"/>
          <ac:picMkLst>
            <pc:docMk/>
            <pc:sldMk cId="2515083719" sldId="257"/>
            <ac:picMk id="9" creationId="{A4B5E61A-E8B6-7D8E-F737-6F1E0A482992}"/>
          </ac:picMkLst>
        </pc:picChg>
        <pc:cxnChg chg="add mod">
          <ac:chgData name="Ali Ahmad" userId="d3510f94-5988-4c3a-9ef9-f2f99b91dc31" providerId="ADAL" clId="{222E2125-EB2D-4716-8AE2-6679A50160D7}" dt="2024-09-03T16:03:44.742" v="340" actId="208"/>
          <ac:cxnSpMkLst>
            <pc:docMk/>
            <pc:sldMk cId="2515083719" sldId="257"/>
            <ac:cxnSpMk id="11" creationId="{EB0B3192-656E-0734-EE42-F4DBBB67D9E3}"/>
          </ac:cxnSpMkLst>
        </pc:cxnChg>
      </pc:sldChg>
      <pc:sldChg chg="addSp delSp modSp new del mod chgLayout">
        <pc:chgData name="Ali Ahmad" userId="d3510f94-5988-4c3a-9ef9-f2f99b91dc31" providerId="ADAL" clId="{222E2125-EB2D-4716-8AE2-6679A50160D7}" dt="2024-09-03T15:16:31.997" v="58" actId="47"/>
        <pc:sldMkLst>
          <pc:docMk/>
          <pc:sldMk cId="3522981326" sldId="257"/>
        </pc:sldMkLst>
        <pc:spChg chg="mod ord">
          <ac:chgData name="Ali Ahmad" userId="d3510f94-5988-4c3a-9ef9-f2f99b91dc31" providerId="ADAL" clId="{222E2125-EB2D-4716-8AE2-6679A50160D7}" dt="2024-09-03T15:16:28.679" v="57" actId="6264"/>
          <ac:spMkLst>
            <pc:docMk/>
            <pc:sldMk cId="3522981326" sldId="257"/>
            <ac:spMk id="2" creationId="{2B8E4871-5F06-CDF8-BA7B-91001F7DE42C}"/>
          </ac:spMkLst>
        </pc:spChg>
        <pc:spChg chg="del">
          <ac:chgData name="Ali Ahmad" userId="d3510f94-5988-4c3a-9ef9-f2f99b91dc31" providerId="ADAL" clId="{222E2125-EB2D-4716-8AE2-6679A50160D7}" dt="2024-09-03T15:16:28.679" v="57" actId="6264"/>
          <ac:spMkLst>
            <pc:docMk/>
            <pc:sldMk cId="3522981326" sldId="257"/>
            <ac:spMk id="3" creationId="{297281F5-03AD-3AB9-90FB-5A7B57F1C027}"/>
          </ac:spMkLst>
        </pc:spChg>
        <pc:spChg chg="add del mod">
          <ac:chgData name="Ali Ahmad" userId="d3510f94-5988-4c3a-9ef9-f2f99b91dc31" providerId="ADAL" clId="{222E2125-EB2D-4716-8AE2-6679A50160D7}" dt="2024-09-03T15:16:28.679" v="57" actId="6264"/>
          <ac:spMkLst>
            <pc:docMk/>
            <pc:sldMk cId="3522981326" sldId="257"/>
            <ac:spMk id="4" creationId="{942B70C4-0120-DCA4-F3EB-C7E2BADDF0DC}"/>
          </ac:spMkLst>
        </pc:spChg>
        <pc:spChg chg="add mod ord">
          <ac:chgData name="Ali Ahmad" userId="d3510f94-5988-4c3a-9ef9-f2f99b91dc31" providerId="ADAL" clId="{222E2125-EB2D-4716-8AE2-6679A50160D7}" dt="2024-09-03T15:16:28.679" v="57" actId="6264"/>
          <ac:spMkLst>
            <pc:docMk/>
            <pc:sldMk cId="3522981326" sldId="257"/>
            <ac:spMk id="5" creationId="{A3BC341F-F120-16F1-4132-DCA500ECB8BD}"/>
          </ac:spMkLst>
        </pc:spChg>
      </pc:sldChg>
      <pc:sldChg chg="addSp delSp modSp new mod">
        <pc:chgData name="Ali Ahmad" userId="d3510f94-5988-4c3a-9ef9-f2f99b91dc31" providerId="ADAL" clId="{222E2125-EB2D-4716-8AE2-6679A50160D7}" dt="2024-09-03T16:24:07.947" v="1149" actId="20577"/>
        <pc:sldMkLst>
          <pc:docMk/>
          <pc:sldMk cId="333086832" sldId="258"/>
        </pc:sldMkLst>
        <pc:spChg chg="mod">
          <ac:chgData name="Ali Ahmad" userId="d3510f94-5988-4c3a-9ef9-f2f99b91dc31" providerId="ADAL" clId="{222E2125-EB2D-4716-8AE2-6679A50160D7}" dt="2024-09-03T15:18:54.626" v="95" actId="113"/>
          <ac:spMkLst>
            <pc:docMk/>
            <pc:sldMk cId="333086832" sldId="258"/>
            <ac:spMk id="2" creationId="{FF441323-4EC6-EDBF-8B2F-91031692055C}"/>
          </ac:spMkLst>
        </pc:spChg>
        <pc:spChg chg="mod">
          <ac:chgData name="Ali Ahmad" userId="d3510f94-5988-4c3a-9ef9-f2f99b91dc31" providerId="ADAL" clId="{222E2125-EB2D-4716-8AE2-6679A50160D7}" dt="2024-09-03T16:24:07.947" v="1149" actId="20577"/>
          <ac:spMkLst>
            <pc:docMk/>
            <pc:sldMk cId="333086832" sldId="258"/>
            <ac:spMk id="3" creationId="{864EEEC7-BFE3-E8A1-062C-F7A682CE01AD}"/>
          </ac:spMkLst>
        </pc:spChg>
        <pc:spChg chg="del">
          <ac:chgData name="Ali Ahmad" userId="d3510f94-5988-4c3a-9ef9-f2f99b91dc31" providerId="ADAL" clId="{222E2125-EB2D-4716-8AE2-6679A50160D7}" dt="2024-09-03T16:21:35.306" v="1089" actId="478"/>
          <ac:spMkLst>
            <pc:docMk/>
            <pc:sldMk cId="333086832" sldId="258"/>
            <ac:spMk id="4" creationId="{21117778-FAB9-1335-5CF3-2233C4E4C342}"/>
          </ac:spMkLst>
        </pc:spChg>
        <pc:picChg chg="add mod">
          <ac:chgData name="Ali Ahmad" userId="d3510f94-5988-4c3a-9ef9-f2f99b91dc31" providerId="ADAL" clId="{222E2125-EB2D-4716-8AE2-6679A50160D7}" dt="2024-09-03T16:22:09.556" v="1099" actId="1076"/>
          <ac:picMkLst>
            <pc:docMk/>
            <pc:sldMk cId="333086832" sldId="258"/>
            <ac:picMk id="6" creationId="{AA51A6C3-8D7F-42D5-A580-31B5CCF978A2}"/>
          </ac:picMkLst>
        </pc:picChg>
        <pc:picChg chg="add mod">
          <ac:chgData name="Ali Ahmad" userId="d3510f94-5988-4c3a-9ef9-f2f99b91dc31" providerId="ADAL" clId="{222E2125-EB2D-4716-8AE2-6679A50160D7}" dt="2024-09-03T16:22:10.559" v="1100" actId="1076"/>
          <ac:picMkLst>
            <pc:docMk/>
            <pc:sldMk cId="333086832" sldId="258"/>
            <ac:picMk id="8" creationId="{E1183400-4357-3720-F656-7CDAD9955152}"/>
          </ac:picMkLst>
        </pc:picChg>
        <pc:cxnChg chg="add mod">
          <ac:chgData name="Ali Ahmad" userId="d3510f94-5988-4c3a-9ef9-f2f99b91dc31" providerId="ADAL" clId="{222E2125-EB2D-4716-8AE2-6679A50160D7}" dt="2024-09-03T16:23:53.021" v="1137" actId="1076"/>
          <ac:cxnSpMkLst>
            <pc:docMk/>
            <pc:sldMk cId="333086832" sldId="258"/>
            <ac:cxnSpMk id="9" creationId="{1F4F75BE-DDC1-8FDE-9EA6-5BAC6391EC05}"/>
          </ac:cxnSpMkLst>
        </pc:cxnChg>
      </pc:sldChg>
      <pc:sldChg chg="addSp delSp modSp new mod ord">
        <pc:chgData name="Ali Ahmad" userId="d3510f94-5988-4c3a-9ef9-f2f99b91dc31" providerId="ADAL" clId="{222E2125-EB2D-4716-8AE2-6679A50160D7}" dt="2024-09-04T07:45:05.364" v="1498" actId="1076"/>
        <pc:sldMkLst>
          <pc:docMk/>
          <pc:sldMk cId="1244894969" sldId="259"/>
        </pc:sldMkLst>
        <pc:spChg chg="mod">
          <ac:chgData name="Ali Ahmad" userId="d3510f94-5988-4c3a-9ef9-f2f99b91dc31" providerId="ADAL" clId="{222E2125-EB2D-4716-8AE2-6679A50160D7}" dt="2024-09-03T15:19:03.874" v="124" actId="20577"/>
          <ac:spMkLst>
            <pc:docMk/>
            <pc:sldMk cId="1244894969" sldId="259"/>
            <ac:spMk id="2" creationId="{1FE24B03-AA3A-063B-47A9-E6D9E66527A3}"/>
          </ac:spMkLst>
        </pc:spChg>
        <pc:spChg chg="mod">
          <ac:chgData name="Ali Ahmad" userId="d3510f94-5988-4c3a-9ef9-f2f99b91dc31" providerId="ADAL" clId="{222E2125-EB2D-4716-8AE2-6679A50160D7}" dt="2024-09-04T07:45:00.480" v="1497" actId="20577"/>
          <ac:spMkLst>
            <pc:docMk/>
            <pc:sldMk cId="1244894969" sldId="259"/>
            <ac:spMk id="3" creationId="{4F670CE0-1CA8-715A-00A3-F38DAB303988}"/>
          </ac:spMkLst>
        </pc:spChg>
        <pc:spChg chg="del">
          <ac:chgData name="Ali Ahmad" userId="d3510f94-5988-4c3a-9ef9-f2f99b91dc31" providerId="ADAL" clId="{222E2125-EB2D-4716-8AE2-6679A50160D7}" dt="2024-09-03T16:08:21.632" v="712" actId="478"/>
          <ac:spMkLst>
            <pc:docMk/>
            <pc:sldMk cId="1244894969" sldId="259"/>
            <ac:spMk id="4" creationId="{E1229AC5-28DB-D487-D28C-681D45C4F869}"/>
          </ac:spMkLst>
        </pc:spChg>
        <pc:spChg chg="add mod">
          <ac:chgData name="Ali Ahmad" userId="d3510f94-5988-4c3a-9ef9-f2f99b91dc31" providerId="ADAL" clId="{222E2125-EB2D-4716-8AE2-6679A50160D7}" dt="2024-09-04T07:45:05.364" v="1498" actId="1076"/>
          <ac:spMkLst>
            <pc:docMk/>
            <pc:sldMk cId="1244894969" sldId="259"/>
            <ac:spMk id="7" creationId="{9AE336E2-BFE9-301A-AFA2-2180EEC07102}"/>
          </ac:spMkLst>
        </pc:spChg>
        <pc:spChg chg="add mod">
          <ac:chgData name="Ali Ahmad" userId="d3510f94-5988-4c3a-9ef9-f2f99b91dc31" providerId="ADAL" clId="{222E2125-EB2D-4716-8AE2-6679A50160D7}" dt="2024-09-03T16:23:25.512" v="1135" actId="208"/>
          <ac:spMkLst>
            <pc:docMk/>
            <pc:sldMk cId="1244894969" sldId="259"/>
            <ac:spMk id="8" creationId="{2F76FB0A-6CB5-47EB-50C2-6A2B95E1B209}"/>
          </ac:spMkLst>
        </pc:spChg>
        <pc:picChg chg="add mod modCrop">
          <ac:chgData name="Ali Ahmad" userId="d3510f94-5988-4c3a-9ef9-f2f99b91dc31" providerId="ADAL" clId="{222E2125-EB2D-4716-8AE2-6679A50160D7}" dt="2024-09-03T16:18:57.251" v="1048" actId="14100"/>
          <ac:picMkLst>
            <pc:docMk/>
            <pc:sldMk cId="1244894969" sldId="259"/>
            <ac:picMk id="6" creationId="{A50E1FC3-538B-418A-C72B-4CCF4A773035}"/>
          </ac:picMkLst>
        </pc:picChg>
      </pc:sldChg>
      <pc:sldChg chg="modSp new del mod">
        <pc:chgData name="Ali Ahmad" userId="d3510f94-5988-4c3a-9ef9-f2f99b91dc31" providerId="ADAL" clId="{222E2125-EB2D-4716-8AE2-6679A50160D7}" dt="2024-09-03T16:06:58.227" v="711" actId="2696"/>
        <pc:sldMkLst>
          <pc:docMk/>
          <pc:sldMk cId="1239009992" sldId="260"/>
        </pc:sldMkLst>
        <pc:spChg chg="mod">
          <ac:chgData name="Ali Ahmad" userId="d3510f94-5988-4c3a-9ef9-f2f99b91dc31" providerId="ADAL" clId="{222E2125-EB2D-4716-8AE2-6679A50160D7}" dt="2024-09-03T15:19:13.315" v="154" actId="20577"/>
          <ac:spMkLst>
            <pc:docMk/>
            <pc:sldMk cId="1239009992" sldId="260"/>
            <ac:spMk id="2" creationId="{D7C28A1F-64A5-4C7A-A46C-4BA2B1EEA769}"/>
          </ac:spMkLst>
        </pc:spChg>
      </pc:sldChg>
      <pc:sldChg chg="addSp delSp modSp new mod">
        <pc:chgData name="Ali Ahmad" userId="d3510f94-5988-4c3a-9ef9-f2f99b91dc31" providerId="ADAL" clId="{222E2125-EB2D-4716-8AE2-6679A50160D7}" dt="2024-09-03T16:29:28.807" v="1193" actId="20577"/>
        <pc:sldMkLst>
          <pc:docMk/>
          <pc:sldMk cId="1008302173" sldId="261"/>
        </pc:sldMkLst>
        <pc:spChg chg="mod">
          <ac:chgData name="Ali Ahmad" userId="d3510f94-5988-4c3a-9ef9-f2f99b91dc31" providerId="ADAL" clId="{222E2125-EB2D-4716-8AE2-6679A50160D7}" dt="2024-09-03T15:19:21.270" v="181" actId="20577"/>
          <ac:spMkLst>
            <pc:docMk/>
            <pc:sldMk cId="1008302173" sldId="261"/>
            <ac:spMk id="2" creationId="{1F1EED45-DF7A-8484-AA42-BF4F3443B7AD}"/>
          </ac:spMkLst>
        </pc:spChg>
        <pc:spChg chg="mod">
          <ac:chgData name="Ali Ahmad" userId="d3510f94-5988-4c3a-9ef9-f2f99b91dc31" providerId="ADAL" clId="{222E2125-EB2D-4716-8AE2-6679A50160D7}" dt="2024-09-03T16:29:28.807" v="1193" actId="20577"/>
          <ac:spMkLst>
            <pc:docMk/>
            <pc:sldMk cId="1008302173" sldId="261"/>
            <ac:spMk id="3" creationId="{4071300D-C04A-F902-6B47-B80F46573FFC}"/>
          </ac:spMkLst>
        </pc:spChg>
        <pc:spChg chg="del">
          <ac:chgData name="Ali Ahmad" userId="d3510f94-5988-4c3a-9ef9-f2f99b91dc31" providerId="ADAL" clId="{222E2125-EB2D-4716-8AE2-6679A50160D7}" dt="2024-09-03T16:26:24.828" v="1150" actId="478"/>
          <ac:spMkLst>
            <pc:docMk/>
            <pc:sldMk cId="1008302173" sldId="261"/>
            <ac:spMk id="4" creationId="{74BF5279-F628-D54B-E742-AE5C61417D53}"/>
          </ac:spMkLst>
        </pc:spChg>
        <pc:picChg chg="add mod">
          <ac:chgData name="Ali Ahmad" userId="d3510f94-5988-4c3a-9ef9-f2f99b91dc31" providerId="ADAL" clId="{222E2125-EB2D-4716-8AE2-6679A50160D7}" dt="2024-09-03T16:27:30.108" v="1161" actId="1076"/>
          <ac:picMkLst>
            <pc:docMk/>
            <pc:sldMk cId="1008302173" sldId="261"/>
            <ac:picMk id="6" creationId="{6CED0410-4F2A-A9C9-D932-F9B967B23698}"/>
          </ac:picMkLst>
        </pc:picChg>
        <pc:picChg chg="add mod">
          <ac:chgData name="Ali Ahmad" userId="d3510f94-5988-4c3a-9ef9-f2f99b91dc31" providerId="ADAL" clId="{222E2125-EB2D-4716-8AE2-6679A50160D7}" dt="2024-09-03T16:27:33.699" v="1162" actId="1076"/>
          <ac:picMkLst>
            <pc:docMk/>
            <pc:sldMk cId="1008302173" sldId="261"/>
            <ac:picMk id="8" creationId="{8235AC8E-B5B5-1F1D-B78B-959EA72187AF}"/>
          </ac:picMkLst>
        </pc:picChg>
      </pc:sldChg>
      <pc:sldChg chg="addSp delSp modSp new mod modClrScheme chgLayout">
        <pc:chgData name="Ali Ahmad" userId="d3510f94-5988-4c3a-9ef9-f2f99b91dc31" providerId="ADAL" clId="{222E2125-EB2D-4716-8AE2-6679A50160D7}" dt="2024-09-03T16:35:07.273" v="1348" actId="27636"/>
        <pc:sldMkLst>
          <pc:docMk/>
          <pc:sldMk cId="75864475" sldId="262"/>
        </pc:sldMkLst>
        <pc:spChg chg="mod ord">
          <ac:chgData name="Ali Ahmad" userId="d3510f94-5988-4c3a-9ef9-f2f99b91dc31" providerId="ADAL" clId="{222E2125-EB2D-4716-8AE2-6679A50160D7}" dt="2024-09-03T16:34:04.728" v="1302" actId="700"/>
          <ac:spMkLst>
            <pc:docMk/>
            <pc:sldMk cId="75864475" sldId="262"/>
            <ac:spMk id="2" creationId="{891BB6A6-744C-74B5-068C-31DF311F2E42}"/>
          </ac:spMkLst>
        </pc:spChg>
        <pc:spChg chg="del mod ord">
          <ac:chgData name="Ali Ahmad" userId="d3510f94-5988-4c3a-9ef9-f2f99b91dc31" providerId="ADAL" clId="{222E2125-EB2D-4716-8AE2-6679A50160D7}" dt="2024-09-03T15:19:37.456" v="192" actId="700"/>
          <ac:spMkLst>
            <pc:docMk/>
            <pc:sldMk cId="75864475" sldId="262"/>
            <ac:spMk id="3" creationId="{E627562F-222F-3E4F-CE3D-8BF0ABBF1EA2}"/>
          </ac:spMkLst>
        </pc:spChg>
        <pc:spChg chg="del">
          <ac:chgData name="Ali Ahmad" userId="d3510f94-5988-4c3a-9ef9-f2f99b91dc31" providerId="ADAL" clId="{222E2125-EB2D-4716-8AE2-6679A50160D7}" dt="2024-09-03T15:19:37.456" v="192" actId="700"/>
          <ac:spMkLst>
            <pc:docMk/>
            <pc:sldMk cId="75864475" sldId="262"/>
            <ac:spMk id="4" creationId="{CDFB078A-4A14-BF1E-1991-0A7AE98B97C8}"/>
          </ac:spMkLst>
        </pc:spChg>
        <pc:spChg chg="add mod ord">
          <ac:chgData name="Ali Ahmad" userId="d3510f94-5988-4c3a-9ef9-f2f99b91dc31" providerId="ADAL" clId="{222E2125-EB2D-4716-8AE2-6679A50160D7}" dt="2024-09-03T16:35:07.273" v="1348" actId="27636"/>
          <ac:spMkLst>
            <pc:docMk/>
            <pc:sldMk cId="75864475" sldId="262"/>
            <ac:spMk id="5" creationId="{078AD1BC-ECB0-8FAC-B8AF-195F4DF85279}"/>
          </ac:spMkLst>
        </pc:spChg>
        <pc:spChg chg="add del mod ord">
          <ac:chgData name="Ali Ahmad" userId="d3510f94-5988-4c3a-9ef9-f2f99b91dc31" providerId="ADAL" clId="{222E2125-EB2D-4716-8AE2-6679A50160D7}" dt="2024-09-03T16:30:13.279" v="1194" actId="700"/>
          <ac:spMkLst>
            <pc:docMk/>
            <pc:sldMk cId="75864475" sldId="262"/>
            <ac:spMk id="6" creationId="{32AE3758-99C3-1D5E-341A-FA03621D51B6}"/>
          </ac:spMkLst>
        </pc:spChg>
        <pc:spChg chg="add mod ord">
          <ac:chgData name="Ali Ahmad" userId="d3510f94-5988-4c3a-9ef9-f2f99b91dc31" providerId="ADAL" clId="{222E2125-EB2D-4716-8AE2-6679A50160D7}" dt="2024-09-03T16:34:11.796" v="1317" actId="20577"/>
          <ac:spMkLst>
            <pc:docMk/>
            <pc:sldMk cId="75864475" sldId="262"/>
            <ac:spMk id="7" creationId="{6DB5C43B-E784-C9BD-AFBF-26FC1D8FD751}"/>
          </ac:spMkLst>
        </pc:spChg>
        <pc:spChg chg="add mod ord">
          <ac:chgData name="Ali Ahmad" userId="d3510f94-5988-4c3a-9ef9-f2f99b91dc31" providerId="ADAL" clId="{222E2125-EB2D-4716-8AE2-6679A50160D7}" dt="2024-09-03T16:34:57.656" v="1344" actId="20577"/>
          <ac:spMkLst>
            <pc:docMk/>
            <pc:sldMk cId="75864475" sldId="262"/>
            <ac:spMk id="8" creationId="{D493FBA5-1FCE-4950-5EC5-479C0DE4BFE7}"/>
          </ac:spMkLst>
        </pc:spChg>
        <pc:spChg chg="add mod ord">
          <ac:chgData name="Ali Ahmad" userId="d3510f94-5988-4c3a-9ef9-f2f99b91dc31" providerId="ADAL" clId="{222E2125-EB2D-4716-8AE2-6679A50160D7}" dt="2024-09-03T16:34:53.010" v="1337" actId="14100"/>
          <ac:spMkLst>
            <pc:docMk/>
            <pc:sldMk cId="75864475" sldId="262"/>
            <ac:spMk id="9" creationId="{8BB130CF-2DD1-4F93-32BF-851910EF2C22}"/>
          </ac:spMkLst>
        </pc:spChg>
      </pc:sldChg>
      <pc:sldMasterChg chg="addSldLayout">
        <pc:chgData name="Ali Ahmad" userId="d3510f94-5988-4c3a-9ef9-f2f99b91dc31" providerId="ADAL" clId="{222E2125-EB2D-4716-8AE2-6679A50160D7}" dt="2024-09-03T15:16:07.392" v="0" actId="680"/>
        <pc:sldMasterMkLst>
          <pc:docMk/>
          <pc:sldMasterMk cId="1224790544" sldId="2147483648"/>
        </pc:sldMasterMkLst>
        <pc:sldLayoutChg chg="add">
          <pc:chgData name="Ali Ahmad" userId="d3510f94-5988-4c3a-9ef9-f2f99b91dc31" providerId="ADAL" clId="{222E2125-EB2D-4716-8AE2-6679A50160D7}" dt="2024-09-03T15:16:07.392" v="0" actId="680"/>
          <pc:sldLayoutMkLst>
            <pc:docMk/>
            <pc:sldMasterMk cId="1224790544" sldId="2147483648"/>
            <pc:sldLayoutMk cId="3200753223"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2/23/2026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2/23/2026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2/23/2026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2/23/2026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t>Marketing Analytics </a:t>
            </a:r>
            <a:r>
              <a:rPr lang="en-US"/>
              <a:t>Portfolio Project</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B1F43-DCCF-81A2-CC77-45CC07AAE4D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3591FDF-2A69-A9B4-93BB-069227260257}"/>
              </a:ext>
            </a:extLst>
          </p:cNvPr>
          <p:cNvSpPr>
            <a:spLocks noGrp="1"/>
          </p:cNvSpPr>
          <p:nvPr>
            <p:ph type="title"/>
          </p:nvPr>
        </p:nvSpPr>
        <p:spPr/>
        <p:txBody>
          <a:bodyPr/>
          <a:lstStyle/>
          <a:p>
            <a:r>
              <a:rPr lang="nb-NO" dirty="0" err="1"/>
              <a:t>Overview</a:t>
            </a:r>
            <a:endParaRPr lang="nb-NO" dirty="0"/>
          </a:p>
        </p:txBody>
      </p:sp>
      <p:sp>
        <p:nvSpPr>
          <p:cNvPr id="6" name="Content Placeholder 5">
            <a:extLst>
              <a:ext uri="{FF2B5EF4-FFF2-40B4-BE49-F238E27FC236}">
                <a16:creationId xmlns:a16="http://schemas.microsoft.com/office/drawing/2014/main" id="{E27DF46F-242C-8502-DF9F-4F86EADB2356}"/>
              </a:ext>
            </a:extLst>
          </p:cNvPr>
          <p:cNvSpPr>
            <a:spLocks noGrp="1"/>
          </p:cNvSpPr>
          <p:nvPr>
            <p:ph sz="half" idx="1"/>
          </p:nvPr>
        </p:nvSpPr>
        <p:spPr>
          <a:xfrm>
            <a:off x="503663" y="1543127"/>
            <a:ext cx="3554629" cy="4949748"/>
          </a:xfrm>
        </p:spPr>
        <p:txBody>
          <a:bodyPr>
            <a:normAutofit fontScale="47500" lnSpcReduction="20000"/>
          </a:bodyPr>
          <a:lstStyle/>
          <a:p>
            <a:pPr>
              <a:lnSpc>
                <a:spcPct val="170000"/>
              </a:lnSpc>
            </a:pPr>
            <a:r>
              <a:rPr lang="en-US" sz="2300" b="1" dirty="0"/>
              <a:t>Decreased Conversion Rates: </a:t>
            </a:r>
            <a:r>
              <a:rPr lang="en-US" sz="2300" dirty="0"/>
              <a:t>Monthly trends indicate fluctuations throughout the year, with a strong peak in </a:t>
            </a:r>
            <a:r>
              <a:rPr lang="en-US" sz="2300" b="1" dirty="0"/>
              <a:t>September (15.15%)</a:t>
            </a:r>
            <a:r>
              <a:rPr lang="en-US" sz="2300" dirty="0"/>
              <a:t>, dips during mid-year, and a notable recovery in </a:t>
            </a:r>
            <a:r>
              <a:rPr lang="en-US" sz="2300" b="1" dirty="0"/>
              <a:t>December (12.82%)</a:t>
            </a:r>
            <a:r>
              <a:rPr lang="en-US" sz="2300" dirty="0"/>
              <a:t>.</a:t>
            </a:r>
            <a:br>
              <a:rPr lang="en-US" sz="2300" dirty="0"/>
            </a:br>
            <a:r>
              <a:rPr lang="en-US" sz="2300" dirty="0"/>
              <a:t>This suggests more effective customer acquisition strategies toward year-end.</a:t>
            </a:r>
          </a:p>
          <a:p>
            <a:pPr>
              <a:lnSpc>
                <a:spcPct val="160000"/>
              </a:lnSpc>
            </a:pPr>
            <a:r>
              <a:rPr lang="en-US" sz="2300" b="1" dirty="0"/>
              <a:t>Reduced Customer Engagement:</a:t>
            </a:r>
          </a:p>
          <a:p>
            <a:pPr marL="0" indent="0">
              <a:buNone/>
            </a:pPr>
            <a:r>
              <a:rPr lang="en-US" sz="2300" dirty="0"/>
              <a:t>  -   While views dominate heavily, </a:t>
            </a:r>
            <a:r>
              <a:rPr lang="en-US" sz="2300" b="1" dirty="0"/>
              <a:t>the ratio of clicks and likes remains low</a:t>
            </a:r>
            <a:r>
              <a:rPr lang="en-US" sz="2300" dirty="0"/>
              <a:t>, suggesting that audiences are seeing the content more than engaging with it.</a:t>
            </a:r>
          </a:p>
          <a:p>
            <a:pPr marL="0" indent="0">
              <a:buNone/>
            </a:pPr>
            <a:r>
              <a:rPr lang="en-US" sz="2300" dirty="0"/>
              <a:t>-   The </a:t>
            </a:r>
            <a:r>
              <a:rPr lang="en-US" sz="2300" b="1" dirty="0"/>
              <a:t>CTR trend</a:t>
            </a:r>
            <a:r>
              <a:rPr lang="en-US" sz="2300" dirty="0"/>
              <a:t>, however, remains relatively strong early in the year (9–8%), but gradually declines to </a:t>
            </a:r>
            <a:r>
              <a:rPr lang="en-US" sz="2300" b="1" dirty="0"/>
              <a:t>2.82% in December</a:t>
            </a:r>
            <a:r>
              <a:rPr lang="en-US" sz="2300" dirty="0"/>
              <a:t>, indicating lower user responsiveness over time.</a:t>
            </a:r>
          </a:p>
          <a:p>
            <a:pPr>
              <a:lnSpc>
                <a:spcPct val="160000"/>
              </a:lnSpc>
            </a:pPr>
            <a:r>
              <a:rPr lang="en-US" sz="2300" b="1" dirty="0"/>
              <a:t>Customer Feedback Analysis: </a:t>
            </a:r>
            <a:r>
              <a:rPr lang="en-US" sz="2300" dirty="0"/>
              <a:t>While consistent, the rating is </a:t>
            </a:r>
            <a:r>
              <a:rPr lang="en-US" sz="2300" b="1" dirty="0"/>
              <a:t>still below the target of 4.0</a:t>
            </a:r>
            <a:r>
              <a:rPr lang="en-US" sz="2300" dirty="0"/>
              <a:t>, and several months fall close to </a:t>
            </a:r>
            <a:r>
              <a:rPr lang="en-US" sz="2300" b="1" dirty="0"/>
              <a:t>3.3–3.5</a:t>
            </a:r>
            <a:r>
              <a:rPr lang="en-US" sz="2300" dirty="0"/>
              <a:t>, indicating the need for product or service improvements—especially in low-performing categories.</a:t>
            </a:r>
          </a:p>
          <a:p>
            <a:pPr>
              <a:lnSpc>
                <a:spcPct val="160000"/>
              </a:lnSpc>
            </a:pPr>
            <a:endParaRPr lang="en-US" sz="2000" b="1" dirty="0"/>
          </a:p>
        </p:txBody>
      </p:sp>
      <p:pic>
        <p:nvPicPr>
          <p:cNvPr id="7" name="Picture 6">
            <a:extLst>
              <a:ext uri="{FF2B5EF4-FFF2-40B4-BE49-F238E27FC236}">
                <a16:creationId xmlns:a16="http://schemas.microsoft.com/office/drawing/2014/main" id="{D68DD343-784E-537C-872D-2166CC4C0D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5666" y="365125"/>
            <a:ext cx="7726470" cy="6212327"/>
          </a:xfrm>
          <a:prstGeom prst="rect">
            <a:avLst/>
          </a:prstGeom>
        </p:spPr>
      </p:pic>
      <p:sp>
        <p:nvSpPr>
          <p:cNvPr id="13" name="Oval 12">
            <a:extLst>
              <a:ext uri="{FF2B5EF4-FFF2-40B4-BE49-F238E27FC236}">
                <a16:creationId xmlns:a16="http://schemas.microsoft.com/office/drawing/2014/main" id="{08C27298-EFF5-42EC-BD98-2A237867274C}"/>
              </a:ext>
            </a:extLst>
          </p:cNvPr>
          <p:cNvSpPr/>
          <p:nvPr/>
        </p:nvSpPr>
        <p:spPr>
          <a:xfrm>
            <a:off x="7767700" y="1260988"/>
            <a:ext cx="1265034"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dirty="0"/>
          </a:p>
        </p:txBody>
      </p:sp>
      <p:cxnSp>
        <p:nvCxnSpPr>
          <p:cNvPr id="11" name="Straight Arrow Connector 10">
            <a:extLst>
              <a:ext uri="{FF2B5EF4-FFF2-40B4-BE49-F238E27FC236}">
                <a16:creationId xmlns:a16="http://schemas.microsoft.com/office/drawing/2014/main" id="{2CCF76B2-80A4-5C33-AEB8-450491497C7E}"/>
              </a:ext>
            </a:extLst>
          </p:cNvPr>
          <p:cNvCxnSpPr>
            <a:cxnSpLocks/>
          </p:cNvCxnSpPr>
          <p:nvPr/>
        </p:nvCxnSpPr>
        <p:spPr>
          <a:xfrm>
            <a:off x="10434504" y="312581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433453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err="1"/>
              <a:t>Decreased</a:t>
            </a:r>
            <a:r>
              <a:rPr lang="nb-NO" dirty="0"/>
              <a:t> 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92500" lnSpcReduction="10000"/>
          </a:bodyPr>
          <a:lstStyle/>
          <a:p>
            <a:pPr>
              <a:lnSpc>
                <a:spcPct val="170000"/>
              </a:lnSpc>
            </a:pPr>
            <a:r>
              <a:rPr lang="en-US" sz="1200" b="1" dirty="0"/>
              <a:t>General Conversion Trend:</a:t>
            </a:r>
          </a:p>
          <a:p>
            <a:pPr>
              <a:lnSpc>
                <a:spcPct val="170000"/>
              </a:lnSpc>
            </a:pPr>
            <a:r>
              <a:rPr lang="en-US" sz="1200" dirty="0"/>
              <a:t>The dashboard shows that conversion rates fluctuated throughout the year, with noticeable peaks in specific months such as </a:t>
            </a:r>
            <a:r>
              <a:rPr lang="en-US" sz="1200" b="1" dirty="0"/>
              <a:t>March, September, and December</a:t>
            </a:r>
            <a:r>
              <a:rPr lang="en-US" sz="1200" dirty="0"/>
              <a:t>. These variations indicate the presence of seasonal patterns and product-driven spikes. While some months perform consistently well, others show noticeable drops, suggesting opportunities to enhance campaigns or optimize the user journey during weaker periods.</a:t>
            </a:r>
          </a:p>
          <a:p>
            <a:pPr>
              <a:lnSpc>
                <a:spcPct val="170000"/>
              </a:lnSpc>
            </a:pPr>
            <a:r>
              <a:rPr lang="en-US" sz="1200" b="1" dirty="0"/>
              <a:t>Lowest Conversion Month:</a:t>
            </a:r>
          </a:p>
          <a:p>
            <a:r>
              <a:rPr lang="en-US" sz="1200" b="1" dirty="0"/>
              <a:t>July</a:t>
            </a:r>
            <a:r>
              <a:rPr lang="en-US" sz="1200" dirty="0"/>
              <a:t> records the lowest overall conversion rate on the dashboard.</a:t>
            </a:r>
            <a:br>
              <a:rPr lang="en-US" sz="1200" dirty="0"/>
            </a:br>
            <a:r>
              <a:rPr lang="en-US" sz="1200" dirty="0"/>
              <a:t>This decline is visible across many products, reflecting a broad drop rather than an issue with a specific category. This may indicate reduced seasonal demand or less effective marketing initiatives during this month.</a:t>
            </a:r>
          </a:p>
          <a:p>
            <a:pPr>
              <a:lnSpc>
                <a:spcPct val="170000"/>
              </a:lnSpc>
            </a:pPr>
            <a:r>
              <a:rPr lang="en-US" sz="1200" b="1" dirty="0"/>
              <a:t>Highest Conversion Rates:</a:t>
            </a:r>
          </a:p>
          <a:p>
            <a:pPr lvl="1">
              <a:lnSpc>
                <a:spcPct val="170000"/>
              </a:lnSpc>
            </a:pPr>
            <a:r>
              <a:rPr lang="en-US" sz="1100" dirty="0"/>
              <a:t>September recorded the highest overall conversion rate at 15.15%, driven significantly by the Ice Skates, Hockey Sticks  with a remarkable 100% conversion</a:t>
            </a:r>
          </a:p>
        </p:txBody>
      </p:sp>
      <p:pic>
        <p:nvPicPr>
          <p:cNvPr id="5" name="Picture 4">
            <a:extLst>
              <a:ext uri="{FF2B5EF4-FFF2-40B4-BE49-F238E27FC236}">
                <a16:creationId xmlns:a16="http://schemas.microsoft.com/office/drawing/2014/main" id="{031FF9DE-6DE2-A9E6-6B8E-BB3E7E449FC4}"/>
              </a:ext>
            </a:extLst>
          </p:cNvPr>
          <p:cNvPicPr>
            <a:picLocks noChangeAspect="1"/>
          </p:cNvPicPr>
          <p:nvPr/>
        </p:nvPicPr>
        <p:blipFill>
          <a:blip r:embed="rId2">
            <a:extLst>
              <a:ext uri="{28A0092B-C50C-407E-A947-70E740481C1C}">
                <a14:useLocalDpi xmlns:a14="http://schemas.microsoft.com/office/drawing/2010/main" val="0"/>
              </a:ext>
            </a:extLst>
          </a:blip>
          <a:srcRect l="1240" t="40572" r="40370" b="-16096"/>
          <a:stretch>
            <a:fillRect/>
          </a:stretch>
        </p:blipFill>
        <p:spPr>
          <a:xfrm>
            <a:off x="6698751" y="1580289"/>
            <a:ext cx="5393932" cy="4842009"/>
          </a:xfrm>
          <a:prstGeom prst="rect">
            <a:avLst/>
          </a:prstGeom>
        </p:spPr>
      </p:pic>
      <p:sp>
        <p:nvSpPr>
          <p:cNvPr id="8" name="Rectangle 7">
            <a:extLst>
              <a:ext uri="{FF2B5EF4-FFF2-40B4-BE49-F238E27FC236}">
                <a16:creationId xmlns:a16="http://schemas.microsoft.com/office/drawing/2014/main" id="{2F76FB0A-6CB5-47EB-50C2-6A2B95E1B209}"/>
              </a:ext>
            </a:extLst>
          </p:cNvPr>
          <p:cNvSpPr/>
          <p:nvPr/>
        </p:nvSpPr>
        <p:spPr>
          <a:xfrm>
            <a:off x="11008893" y="1825626"/>
            <a:ext cx="539259" cy="3298836"/>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Rectangle 6">
            <a:extLst>
              <a:ext uri="{FF2B5EF4-FFF2-40B4-BE49-F238E27FC236}">
                <a16:creationId xmlns:a16="http://schemas.microsoft.com/office/drawing/2014/main" id="{9AE336E2-BFE9-301A-AFA2-2180EEC07102}"/>
              </a:ext>
            </a:extLst>
          </p:cNvPr>
          <p:cNvSpPr/>
          <p:nvPr/>
        </p:nvSpPr>
        <p:spPr>
          <a:xfrm>
            <a:off x="10264981" y="1690688"/>
            <a:ext cx="409868" cy="358702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CF7BF-A188-B15A-F6D2-F15D6CCB4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F2F30C-3679-4E41-28FA-9EE4B3107315}"/>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05857416-54C4-E169-6AA9-F1CD0BD185D8}"/>
              </a:ext>
            </a:extLst>
          </p:cNvPr>
          <p:cNvSpPr>
            <a:spLocks noGrp="1"/>
          </p:cNvSpPr>
          <p:nvPr>
            <p:ph sz="half" idx="1"/>
          </p:nvPr>
        </p:nvSpPr>
        <p:spPr/>
        <p:txBody>
          <a:bodyPr>
            <a:normAutofit/>
          </a:bodyPr>
          <a:lstStyle/>
          <a:p>
            <a:pPr>
              <a:lnSpc>
                <a:spcPct val="170000"/>
              </a:lnSpc>
            </a:pPr>
            <a:r>
              <a:rPr lang="en-US" sz="1050" b="1" dirty="0"/>
              <a:t>Declining Views:</a:t>
            </a:r>
          </a:p>
          <a:p>
            <a:pPr>
              <a:lnSpc>
                <a:spcPct val="170000"/>
              </a:lnSpc>
            </a:pPr>
            <a:r>
              <a:rPr lang="en-US" sz="1050" dirty="0"/>
              <a:t>Views start high in </a:t>
            </a:r>
            <a:r>
              <a:rPr lang="en-US" sz="1050" b="1" dirty="0"/>
              <a:t>January and February</a:t>
            </a:r>
            <a:r>
              <a:rPr lang="en-US" sz="1050" dirty="0"/>
              <a:t>, then continue decreasing month after month, reaching their lowest levels around </a:t>
            </a:r>
            <a:r>
              <a:rPr lang="en-US" sz="1050" b="1" dirty="0"/>
              <a:t>October–December</a:t>
            </a:r>
            <a:r>
              <a:rPr lang="en-US" sz="1050" dirty="0"/>
              <a:t>.</a:t>
            </a:r>
            <a:br>
              <a:rPr lang="en-US" sz="1050" dirty="0"/>
            </a:br>
            <a:r>
              <a:rPr lang="en-US" sz="1050" dirty="0"/>
              <a:t>This indicates a consistent drop in audience reach and visibility over time.</a:t>
            </a:r>
            <a:endParaRPr lang="en-US" sz="1050" b="1" dirty="0"/>
          </a:p>
          <a:p>
            <a:pPr>
              <a:lnSpc>
                <a:spcPct val="170000"/>
              </a:lnSpc>
            </a:pPr>
            <a:r>
              <a:rPr lang="en-US" sz="1050" b="1" dirty="0"/>
              <a:t>Low Interaction Rates:</a:t>
            </a:r>
          </a:p>
          <a:p>
            <a:pPr>
              <a:lnSpc>
                <a:spcPct val="170000"/>
              </a:lnSpc>
            </a:pPr>
            <a:r>
              <a:rPr lang="en-US" sz="1050" dirty="0"/>
              <a:t>Although total views are high, </a:t>
            </a:r>
            <a:r>
              <a:rPr lang="en-US" sz="1050" b="1" dirty="0"/>
              <a:t>clicks and likes remain very low in comparison</a:t>
            </a:r>
            <a:r>
              <a:rPr lang="en-US" sz="1050" dirty="0"/>
              <a:t>.</a:t>
            </a:r>
            <a:br>
              <a:rPr lang="en-US" sz="1050" dirty="0"/>
            </a:br>
            <a:r>
              <a:rPr lang="en-US" sz="1050" dirty="0"/>
              <a:t>Clicks hover between </a:t>
            </a:r>
            <a:r>
              <a:rPr lang="en-US" sz="1050" b="1" dirty="0"/>
              <a:t>1K–15K</a:t>
            </a:r>
            <a:r>
              <a:rPr lang="en-US" sz="1050" dirty="0"/>
              <a:t>, and likes stay below that—far behind the large view counts.</a:t>
            </a:r>
            <a:br>
              <a:rPr lang="en-US" sz="1050" dirty="0"/>
            </a:br>
            <a:r>
              <a:rPr lang="en-US" sz="1050" dirty="0"/>
              <a:t>This gap suggests that while content is being seen, it is not driving strong interaction, highlighting the need to improve content hooks, CTAs, or relevance.</a:t>
            </a:r>
            <a:endParaRPr lang="en-US" sz="1050" b="1" dirty="0"/>
          </a:p>
          <a:p>
            <a:pPr>
              <a:lnSpc>
                <a:spcPct val="170000"/>
              </a:lnSpc>
            </a:pPr>
            <a:r>
              <a:rPr lang="en-US" sz="1050" b="1" dirty="0"/>
              <a:t>Content Type Performance:</a:t>
            </a:r>
          </a:p>
          <a:p>
            <a:pPr>
              <a:lnSpc>
                <a:spcPct val="170000"/>
              </a:lnSpc>
            </a:pPr>
            <a:r>
              <a:rPr lang="en-US" sz="1050" dirty="0"/>
              <a:t>This indicates that blog content remains the strongest driver of visibility, while other content types could benefit from further optimization to increase engagement.</a:t>
            </a:r>
          </a:p>
        </p:txBody>
      </p:sp>
      <p:pic>
        <p:nvPicPr>
          <p:cNvPr id="5" name="Picture 4">
            <a:extLst>
              <a:ext uri="{FF2B5EF4-FFF2-40B4-BE49-F238E27FC236}">
                <a16:creationId xmlns:a16="http://schemas.microsoft.com/office/drawing/2014/main" id="{064337F5-7228-294A-8EE9-1915306FB68A}"/>
              </a:ext>
            </a:extLst>
          </p:cNvPr>
          <p:cNvPicPr>
            <a:picLocks noChangeAspect="1"/>
          </p:cNvPicPr>
          <p:nvPr/>
        </p:nvPicPr>
        <p:blipFill>
          <a:blip r:embed="rId2">
            <a:extLst>
              <a:ext uri="{28A0092B-C50C-407E-A947-70E740481C1C}">
                <a14:useLocalDpi xmlns:a14="http://schemas.microsoft.com/office/drawing/2010/main" val="0"/>
              </a:ext>
            </a:extLst>
          </a:blip>
          <a:srcRect t="27826" r="867"/>
          <a:stretch>
            <a:fillRect/>
          </a:stretch>
        </p:blipFill>
        <p:spPr>
          <a:xfrm>
            <a:off x="6172202" y="1698001"/>
            <a:ext cx="5910207" cy="4877460"/>
          </a:xfrm>
          <a:prstGeom prst="rect">
            <a:avLst/>
          </a:prstGeom>
        </p:spPr>
      </p:pic>
      <p:cxnSp>
        <p:nvCxnSpPr>
          <p:cNvPr id="9" name="Straight Arrow Connector 8">
            <a:extLst>
              <a:ext uri="{FF2B5EF4-FFF2-40B4-BE49-F238E27FC236}">
                <a16:creationId xmlns:a16="http://schemas.microsoft.com/office/drawing/2014/main" id="{4FBD2B8F-5195-EDCC-92CE-51C1A339B235}"/>
              </a:ext>
            </a:extLst>
          </p:cNvPr>
          <p:cNvCxnSpPr>
            <a:cxnSpLocks/>
          </p:cNvCxnSpPr>
          <p:nvPr/>
        </p:nvCxnSpPr>
        <p:spPr>
          <a:xfrm>
            <a:off x="6935056" y="2404153"/>
            <a:ext cx="842481" cy="1859622"/>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018635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a:lnSpc>
                <a:spcPct val="170000"/>
              </a:lnSpc>
            </a:pPr>
            <a:r>
              <a:rPr lang="en-US" b="1" dirty="0"/>
              <a:t>Customer Ratings Distribution:</a:t>
            </a:r>
          </a:p>
          <a:p>
            <a:pPr lvl="1">
              <a:lnSpc>
                <a:spcPct val="170000"/>
              </a:lnSpc>
            </a:pPr>
            <a:r>
              <a:rPr lang="en-US" dirty="0"/>
              <a:t>The majority of customer reviews are in the higher ratings, with 140 reviews at 4 stars and 135 reviews at 5 stars, indicating overall positive feedback. Lower ratings (1-2 stars) account for a smaller proportion, with 26 reviews at 1 star and 57 reviews at 2 stars.</a:t>
            </a:r>
          </a:p>
          <a:p>
            <a:pPr>
              <a:lnSpc>
                <a:spcPct val="170000"/>
              </a:lnSpc>
            </a:pPr>
            <a:r>
              <a:rPr lang="en-US" b="1" dirty="0"/>
              <a:t>Sentiment Analysis:</a:t>
            </a:r>
          </a:p>
          <a:p>
            <a:pPr lvl="1">
              <a:lnSpc>
                <a:spcPct val="170000"/>
              </a:lnSpc>
            </a:pPr>
            <a:r>
              <a:rPr lang="en-US" dirty="0"/>
              <a:t>Positive sentiment dominates with 275 reviews, reflecting a generally satisfied customer base. Negative sentiment is present in 82 reviews, with a smaller number of mixed and neutral sentiments, suggesting some areas for improvement but overall strong customer approval.</a:t>
            </a:r>
          </a:p>
          <a:p>
            <a:pPr>
              <a:lnSpc>
                <a:spcPct val="170000"/>
              </a:lnSpc>
            </a:pPr>
            <a:r>
              <a:rPr lang="en-US" b="1" dirty="0"/>
              <a:t>Opportunity for Improvement:</a:t>
            </a:r>
          </a:p>
          <a:p>
            <a:pPr lvl="1">
              <a:lnSpc>
                <a:spcPct val="170000"/>
              </a:lnSpc>
            </a:pPr>
            <a:r>
              <a:rPr lang="en-US"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dirty="0"/>
          </a:p>
        </p:txBody>
      </p:sp>
      <p:pic>
        <p:nvPicPr>
          <p:cNvPr id="6" name="Picture 5">
            <a:extLst>
              <a:ext uri="{FF2B5EF4-FFF2-40B4-BE49-F238E27FC236}">
                <a16:creationId xmlns:a16="http://schemas.microsoft.com/office/drawing/2014/main" id="{6CED0410-4F2A-A9C9-D932-F9B967B23698}"/>
              </a:ext>
            </a:extLst>
          </p:cNvPr>
          <p:cNvPicPr>
            <a:picLocks noChangeAspect="1"/>
          </p:cNvPicPr>
          <p:nvPr/>
        </p:nvPicPr>
        <p:blipFill>
          <a:blip r:embed="rId2"/>
          <a:stretch>
            <a:fillRect/>
          </a:stretch>
        </p:blipFill>
        <p:spPr>
          <a:xfrm>
            <a:off x="7298926" y="1792673"/>
            <a:ext cx="3035427" cy="2120733"/>
          </a:xfrm>
          <a:prstGeom prst="rect">
            <a:avLst/>
          </a:prstGeom>
        </p:spPr>
      </p:pic>
      <p:pic>
        <p:nvPicPr>
          <p:cNvPr id="8" name="Picture 7">
            <a:extLst>
              <a:ext uri="{FF2B5EF4-FFF2-40B4-BE49-F238E27FC236}">
                <a16:creationId xmlns:a16="http://schemas.microsoft.com/office/drawing/2014/main" id="{8235AC8E-B5B5-1F1D-B78B-959EA72187AF}"/>
              </a:ext>
            </a:extLst>
          </p:cNvPr>
          <p:cNvPicPr>
            <a:picLocks noChangeAspect="1"/>
          </p:cNvPicPr>
          <p:nvPr/>
        </p:nvPicPr>
        <p:blipFill>
          <a:blip r:embed="rId3"/>
          <a:stretch>
            <a:fillRect/>
          </a:stretch>
        </p:blipFill>
        <p:spPr>
          <a:xfrm>
            <a:off x="7254729" y="4051431"/>
            <a:ext cx="3123819" cy="2161571"/>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FDCD3-4B69-2AA6-E2D6-9D305FE7A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2964AA-D0A9-03AF-618B-177714000124}"/>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D5EA9ED5-D990-B560-75D7-3F03B4E2FDBE}"/>
              </a:ext>
            </a:extLst>
          </p:cNvPr>
          <p:cNvSpPr>
            <a:spLocks noGrp="1"/>
          </p:cNvSpPr>
          <p:nvPr>
            <p:ph sz="half" idx="1"/>
          </p:nvPr>
        </p:nvSpPr>
        <p:spPr>
          <a:xfrm>
            <a:off x="838200" y="1580142"/>
            <a:ext cx="5181600" cy="4842303"/>
          </a:xfrm>
        </p:spPr>
        <p:txBody>
          <a:bodyPr>
            <a:noAutofit/>
          </a:bodyPr>
          <a:lstStyle/>
          <a:p>
            <a:pPr>
              <a:lnSpc>
                <a:spcPct val="170000"/>
              </a:lnSpc>
            </a:pPr>
            <a:r>
              <a:rPr lang="en-US" sz="800" b="1" dirty="0"/>
              <a:t>Customer Ratings Distribution:</a:t>
            </a:r>
          </a:p>
          <a:p>
            <a:r>
              <a:rPr lang="en-US" sz="800" dirty="0"/>
              <a:t>Customer reviews show a strong positive trend, with the </a:t>
            </a:r>
            <a:r>
              <a:rPr lang="en-US" sz="800" b="1" dirty="0"/>
              <a:t>highest volume of ratings in the 4- and 5-star categories</a:t>
            </a:r>
            <a:r>
              <a:rPr lang="en-US" sz="800" dirty="0"/>
              <a:t>.</a:t>
            </a:r>
          </a:p>
          <a:p>
            <a:r>
              <a:rPr lang="en-US" sz="800" b="1" dirty="0"/>
              <a:t>154 reviews</a:t>
            </a:r>
            <a:r>
              <a:rPr lang="en-US" sz="800" dirty="0"/>
              <a:t> gave a </a:t>
            </a:r>
            <a:r>
              <a:rPr lang="en-US" sz="800" b="1" dirty="0"/>
              <a:t>4-star rating</a:t>
            </a:r>
            <a:endParaRPr lang="en-US" sz="800" dirty="0"/>
          </a:p>
          <a:p>
            <a:r>
              <a:rPr lang="en-US" sz="800" b="1" dirty="0"/>
              <a:t>138 reviews</a:t>
            </a:r>
            <a:r>
              <a:rPr lang="en-US" sz="800" dirty="0"/>
              <a:t> gave a </a:t>
            </a:r>
            <a:r>
              <a:rPr lang="en-US" sz="800" b="1" dirty="0"/>
              <a:t>5-star rating</a:t>
            </a:r>
            <a:br>
              <a:rPr lang="en-US" sz="800" dirty="0"/>
            </a:br>
            <a:r>
              <a:rPr lang="en-US" sz="800" dirty="0"/>
              <a:t>These two categories make up the majority of feedback, confirming consistently high customer satisfaction. Lower ratings (1–2 stars) are significantly fewer, indicating fewer negative experiences overall.</a:t>
            </a:r>
            <a:endParaRPr lang="en-US" sz="800" b="1" dirty="0"/>
          </a:p>
          <a:p>
            <a:pPr>
              <a:lnSpc>
                <a:spcPct val="170000"/>
              </a:lnSpc>
            </a:pPr>
            <a:r>
              <a:rPr lang="en-US" sz="800" b="1" dirty="0"/>
              <a:t>Sentiment Analysis:</a:t>
            </a:r>
          </a:p>
          <a:p>
            <a:r>
              <a:rPr lang="en-US" sz="800" b="1" dirty="0"/>
              <a:t>292 Positive reviews</a:t>
            </a:r>
            <a:r>
              <a:rPr lang="en-US" sz="800" dirty="0"/>
              <a:t> represent the largest share of customer sentiment.</a:t>
            </a:r>
          </a:p>
          <a:p>
            <a:r>
              <a:rPr lang="en-US" sz="800" b="1" dirty="0"/>
              <a:t>Negative reviews:</a:t>
            </a:r>
            <a:r>
              <a:rPr lang="en-US" sz="800" dirty="0"/>
              <a:t> 81</a:t>
            </a:r>
          </a:p>
          <a:p>
            <a:r>
              <a:rPr lang="en-US" sz="800" b="1" dirty="0"/>
              <a:t>Mixed Negative:</a:t>
            </a:r>
            <a:r>
              <a:rPr lang="en-US" sz="800" dirty="0"/>
              <a:t> 56</a:t>
            </a:r>
          </a:p>
          <a:p>
            <a:r>
              <a:rPr lang="en-US" sz="800" b="1" dirty="0"/>
              <a:t>Mixed Positive:</a:t>
            </a:r>
            <a:r>
              <a:rPr lang="en-US" sz="800" dirty="0"/>
              <a:t> 41</a:t>
            </a:r>
          </a:p>
          <a:p>
            <a:r>
              <a:rPr lang="en-US" sz="800" b="1" dirty="0"/>
              <a:t>Neutral:</a:t>
            </a:r>
            <a:r>
              <a:rPr lang="en-US" sz="800" dirty="0"/>
              <a:t> 7</a:t>
            </a:r>
          </a:p>
          <a:p>
            <a:r>
              <a:rPr lang="en-US" sz="800" dirty="0"/>
              <a:t>With more than </a:t>
            </a:r>
            <a:r>
              <a:rPr lang="en-US" sz="800" b="1" dirty="0"/>
              <a:t>60% of all reviews being positive</a:t>
            </a:r>
            <a:r>
              <a:rPr lang="en-US" sz="800" dirty="0"/>
              <a:t>, the overall sentiment toward your products is clearly strong.</a:t>
            </a:r>
          </a:p>
          <a:p>
            <a:pPr>
              <a:lnSpc>
                <a:spcPct val="170000"/>
              </a:lnSpc>
            </a:pPr>
            <a:r>
              <a:rPr lang="en-US" sz="800" b="1" dirty="0"/>
              <a:t>Opportunity for Improvement:</a:t>
            </a:r>
          </a:p>
          <a:p>
            <a:r>
              <a:rPr lang="en-US" sz="800" dirty="0"/>
              <a:t>Although negative and mixed-negative categories form a smaller portion of total reviews, they still highlight areas to enhance:</a:t>
            </a:r>
          </a:p>
          <a:p>
            <a:r>
              <a:rPr lang="en-US" sz="800" b="1" dirty="0"/>
              <a:t>Mixed Negative feedback</a:t>
            </a:r>
            <a:r>
              <a:rPr lang="en-US" sz="800" dirty="0"/>
              <a:t>, while not large, suggests partial dissatisfaction that could be addressed with product improvements or better post-purchase support.</a:t>
            </a:r>
          </a:p>
          <a:p>
            <a:r>
              <a:rPr lang="en-US" sz="800" b="1" dirty="0"/>
              <a:t>Neutral reviews</a:t>
            </a:r>
            <a:r>
              <a:rPr lang="en-US" sz="800" dirty="0"/>
              <a:t> are relatively few but represent customers who could potentially become promoters with minor enhancements in their experience.</a:t>
            </a:r>
          </a:p>
          <a:p>
            <a:r>
              <a:rPr lang="en-US" sz="800" dirty="0"/>
              <a:t>Focusing on the themes in </a:t>
            </a:r>
            <a:r>
              <a:rPr lang="en-US" sz="800" b="1" dirty="0"/>
              <a:t>mixed and negative reviews</a:t>
            </a:r>
            <a:r>
              <a:rPr lang="en-US" sz="800" dirty="0"/>
              <a:t> can help shift more customers toward clearly positive sentiments.</a:t>
            </a:r>
          </a:p>
        </p:txBody>
      </p:sp>
      <p:pic>
        <p:nvPicPr>
          <p:cNvPr id="5" name="Picture 4">
            <a:extLst>
              <a:ext uri="{FF2B5EF4-FFF2-40B4-BE49-F238E27FC236}">
                <a16:creationId xmlns:a16="http://schemas.microsoft.com/office/drawing/2014/main" id="{1F146654-16BF-33D4-7B61-390632B28B72}"/>
              </a:ext>
            </a:extLst>
          </p:cNvPr>
          <p:cNvPicPr>
            <a:picLocks noChangeAspect="1"/>
          </p:cNvPicPr>
          <p:nvPr/>
        </p:nvPicPr>
        <p:blipFill>
          <a:blip r:embed="rId2">
            <a:extLst>
              <a:ext uri="{28A0092B-C50C-407E-A947-70E740481C1C}">
                <a14:useLocalDpi xmlns:a14="http://schemas.microsoft.com/office/drawing/2010/main" val="0"/>
              </a:ext>
            </a:extLst>
          </a:blip>
          <a:srcRect l="21286" t="10877" r="51986" b="68416"/>
          <a:stretch>
            <a:fillRect/>
          </a:stretch>
        </p:blipFill>
        <p:spPr>
          <a:xfrm>
            <a:off x="6909550" y="1612846"/>
            <a:ext cx="4176267" cy="1715982"/>
          </a:xfrm>
          <a:prstGeom prst="rect">
            <a:avLst/>
          </a:prstGeom>
        </p:spPr>
      </p:pic>
      <p:pic>
        <p:nvPicPr>
          <p:cNvPr id="9" name="Picture 8">
            <a:extLst>
              <a:ext uri="{FF2B5EF4-FFF2-40B4-BE49-F238E27FC236}">
                <a16:creationId xmlns:a16="http://schemas.microsoft.com/office/drawing/2014/main" id="{28539162-AB40-1472-98AB-4DD6BB0F545B}"/>
              </a:ext>
            </a:extLst>
          </p:cNvPr>
          <p:cNvPicPr>
            <a:picLocks noChangeAspect="1"/>
          </p:cNvPicPr>
          <p:nvPr/>
        </p:nvPicPr>
        <p:blipFill>
          <a:blip r:embed="rId2">
            <a:extLst>
              <a:ext uri="{28A0092B-C50C-407E-A947-70E740481C1C}">
                <a14:useLocalDpi xmlns:a14="http://schemas.microsoft.com/office/drawing/2010/main" val="0"/>
              </a:ext>
            </a:extLst>
          </a:blip>
          <a:srcRect l="48643" t="9057" r="17129" b="67330"/>
          <a:stretch>
            <a:fillRect/>
          </a:stretch>
        </p:blipFill>
        <p:spPr>
          <a:xfrm>
            <a:off x="7063662" y="4001294"/>
            <a:ext cx="4099389" cy="1824153"/>
          </a:xfrm>
          <a:prstGeom prst="rect">
            <a:avLst/>
          </a:prstGeom>
        </p:spPr>
      </p:pic>
    </p:spTree>
    <p:extLst>
      <p:ext uri="{BB962C8B-B14F-4D97-AF65-F5344CB8AC3E}">
        <p14:creationId xmlns:p14="http://schemas.microsoft.com/office/powerpoint/2010/main" val="3451012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t>Goals &amp; </a:t>
            </a:r>
            <a:r>
              <a:rPr lang="nb-NO" dirty="0" err="1"/>
              <a:t>Actions</a:t>
            </a:r>
            <a:endParaRPr lang="nb-NO" dirty="0"/>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505075"/>
            <a:ext cx="5157787" cy="3987800"/>
          </a:xfrm>
        </p:spPr>
        <p:txBody>
          <a:bodyPr>
            <a:normAutofit fontScale="40000" lnSpcReduction="20000"/>
          </a:bodyPr>
          <a:lstStyle/>
          <a:p>
            <a:pPr>
              <a:lnSpc>
                <a:spcPct val="170000"/>
              </a:lnSpc>
            </a:pPr>
            <a:r>
              <a:rPr lang="en-US" b="1" dirty="0"/>
              <a:t>Increase Conversion Rates:</a:t>
            </a:r>
          </a:p>
          <a:p>
            <a:pPr lvl="1">
              <a:lnSpc>
                <a:spcPct val="170000"/>
              </a:lnSpc>
            </a:pPr>
            <a:r>
              <a:rPr lang="en-US" b="1" dirty="0"/>
              <a:t>Goal: </a:t>
            </a:r>
            <a:r>
              <a:rPr lang="en-US" dirty="0"/>
              <a:t>Identify factors impacting the conversion rate and provide recommendations to improve it.</a:t>
            </a:r>
          </a:p>
          <a:p>
            <a:pPr lvl="1">
              <a:lnSpc>
                <a:spcPct val="170000"/>
              </a:lnSpc>
            </a:pPr>
            <a:r>
              <a:rPr lang="en-US" b="1" dirty="0"/>
              <a:t>Insight: </a:t>
            </a:r>
            <a:r>
              <a:rPr lang="en-US" dirty="0"/>
              <a:t>Highlight key stages where visitors drop off and suggest improvements to optimize the conversion funnel.</a:t>
            </a:r>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p>
          <a:p>
            <a:pPr lvl="1">
              <a:lnSpc>
                <a:spcPct val="170000"/>
              </a:lnSpc>
            </a:pPr>
            <a:r>
              <a:rPr lang="en-US" b="1" dirty="0"/>
              <a:t>Insight:</a:t>
            </a:r>
            <a:r>
              <a:rPr lang="en-US" dirty="0"/>
              <a:t> Analyze interaction levels with different types of marketing content to inform better content strategies.</a:t>
            </a:r>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p>
          <a:p>
            <a:pPr lvl="1">
              <a:lnSpc>
                <a:spcPct val="170000"/>
              </a:lnSpc>
            </a:pPr>
            <a:r>
              <a:rPr lang="en-US" b="1" dirty="0"/>
              <a:t>Insight:</a:t>
            </a:r>
            <a:r>
              <a:rPr lang="en-US"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a:xfrm>
            <a:off x="6096000" y="857251"/>
            <a:ext cx="5183188" cy="823912"/>
          </a:xfrm>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096000" y="1939996"/>
            <a:ext cx="5183188" cy="4211984"/>
          </a:xfrm>
        </p:spPr>
        <p:txBody>
          <a:bodyPr>
            <a:noAutofit/>
          </a:bodyPr>
          <a:lstStyle/>
          <a:p>
            <a:pPr>
              <a:lnSpc>
                <a:spcPct val="120000"/>
              </a:lnSpc>
            </a:pPr>
            <a:r>
              <a:rPr lang="nb-NO" sz="900" b="1" dirty="0" err="1"/>
              <a:t>Increase</a:t>
            </a:r>
            <a:r>
              <a:rPr lang="nb-NO" sz="900" b="1" dirty="0"/>
              <a:t> Conversion Rates:</a:t>
            </a:r>
          </a:p>
          <a:p>
            <a:r>
              <a:rPr lang="en-US" sz="900" b="1" dirty="0"/>
              <a:t>Focus on Products with Strong Conversion Performance:</a:t>
            </a:r>
            <a:br>
              <a:rPr lang="en-US" sz="900" dirty="0"/>
            </a:br>
            <a:r>
              <a:rPr lang="en-US" sz="900" dirty="0"/>
              <a:t>Products such as </a:t>
            </a:r>
            <a:r>
              <a:rPr lang="en-US" sz="900" b="1" dirty="0"/>
              <a:t>Hockey Sticks, Climbing Rope, and Baseball Gloves</a:t>
            </a:r>
            <a:r>
              <a:rPr lang="en-US" sz="900" dirty="0"/>
              <a:t> show the highest conversion rates. Allocate more targeted campaigns, retargeting ads, and seasonal promotions to these top converters to maximize ROI.</a:t>
            </a:r>
          </a:p>
          <a:p>
            <a:r>
              <a:rPr lang="en-US" sz="900" b="1" dirty="0"/>
              <a:t>Optimize Low-Conversion Months:</a:t>
            </a:r>
            <a:br>
              <a:rPr lang="en-US" sz="900" dirty="0"/>
            </a:br>
            <a:r>
              <a:rPr lang="en-US" sz="900" dirty="0"/>
              <a:t>Months such as </a:t>
            </a:r>
            <a:r>
              <a:rPr lang="en-US" sz="900" b="1" dirty="0"/>
              <a:t>July, August, and October</a:t>
            </a:r>
            <a:r>
              <a:rPr lang="en-US" sz="900" dirty="0"/>
              <a:t> show noticeable drops in conversion rates. Consider running time-limited offers, bundle discounts, or product-specific campaigns during these weaker periods to stabilize yearly conversion performance.</a:t>
            </a:r>
            <a:endParaRPr lang="nb-NO" sz="900" dirty="0"/>
          </a:p>
          <a:p>
            <a:pPr>
              <a:lnSpc>
                <a:spcPct val="120000"/>
              </a:lnSpc>
            </a:pPr>
            <a:r>
              <a:rPr lang="nb-NO" sz="900" b="1" dirty="0" err="1"/>
              <a:t>Enhance</a:t>
            </a:r>
            <a:r>
              <a:rPr lang="nb-NO" sz="900" b="1" dirty="0"/>
              <a:t> </a:t>
            </a:r>
            <a:r>
              <a:rPr lang="nb-NO" sz="900" b="1" dirty="0" err="1"/>
              <a:t>Customer</a:t>
            </a:r>
            <a:r>
              <a:rPr lang="nb-NO" sz="900" b="1" dirty="0"/>
              <a:t> </a:t>
            </a:r>
            <a:r>
              <a:rPr lang="nb-NO" sz="900" b="1" dirty="0" err="1"/>
              <a:t>Engagement</a:t>
            </a:r>
            <a:r>
              <a:rPr lang="nb-NO" sz="900" b="1" dirty="0"/>
              <a:t>:</a:t>
            </a:r>
          </a:p>
          <a:p>
            <a:r>
              <a:rPr lang="en-US" sz="900" dirty="0"/>
              <a:t>Introduce more </a:t>
            </a:r>
            <a:r>
              <a:rPr lang="en-US" sz="900" b="1" dirty="0"/>
              <a:t>interactive content</a:t>
            </a:r>
            <a:r>
              <a:rPr lang="en-US" sz="900" dirty="0"/>
              <a:t>, such as quick reels, product demos, or comparison videos.</a:t>
            </a:r>
          </a:p>
          <a:p>
            <a:r>
              <a:rPr lang="en-US" sz="900" dirty="0"/>
              <a:t>Strengthen the </a:t>
            </a:r>
            <a:r>
              <a:rPr lang="en-US" sz="900" b="1" dirty="0"/>
              <a:t>call-to-action</a:t>
            </a:r>
            <a:r>
              <a:rPr lang="en-US" sz="900" dirty="0"/>
              <a:t> across blog, video, and social media posts.</a:t>
            </a:r>
          </a:p>
          <a:p>
            <a:r>
              <a:rPr lang="en-US" sz="900" dirty="0"/>
              <a:t>Increase publishing frequency during historically weak months (</a:t>
            </a:r>
            <a:r>
              <a:rPr lang="en-US" sz="900" b="1" dirty="0"/>
              <a:t>September–December</a:t>
            </a:r>
            <a:r>
              <a:rPr lang="en-US" sz="900" dirty="0"/>
              <a:t>) to revive reach.</a:t>
            </a:r>
          </a:p>
          <a:p>
            <a:r>
              <a:rPr lang="en-US" sz="900" b="1" dirty="0"/>
              <a:t>Prioritize High-Performing Content Types:</a:t>
            </a:r>
            <a:br>
              <a:rPr lang="en-US" sz="900" dirty="0"/>
            </a:br>
            <a:r>
              <a:rPr lang="en-US" sz="900" dirty="0"/>
              <a:t>Blogs generate the highest views across months, especially in </a:t>
            </a:r>
            <a:r>
              <a:rPr lang="en-US" sz="900" b="1" dirty="0"/>
              <a:t>April and July</a:t>
            </a:r>
            <a:r>
              <a:rPr lang="en-US" sz="900" dirty="0"/>
              <a:t>.</a:t>
            </a:r>
            <a:br>
              <a:rPr lang="en-US" sz="900" dirty="0"/>
            </a:br>
            <a:r>
              <a:rPr lang="en-US" sz="900" dirty="0"/>
              <a:t>Double down on blog content while optimizing social media and video posts to catch up, possibly by repurposing high-performing blog topics into video formats.</a:t>
            </a:r>
            <a:endParaRPr lang="nb-NO" sz="900" dirty="0"/>
          </a:p>
          <a:p>
            <a:pPr>
              <a:lnSpc>
                <a:spcPct val="120000"/>
              </a:lnSpc>
            </a:pPr>
            <a:r>
              <a:rPr lang="nb-NO" sz="900" b="1" dirty="0"/>
              <a:t>Improve Customer Feedback Scores:</a:t>
            </a:r>
          </a:p>
          <a:p>
            <a:pPr>
              <a:lnSpc>
                <a:spcPct val="120000"/>
              </a:lnSpc>
            </a:pPr>
            <a:r>
              <a:rPr lang="en-US" sz="900" b="1" dirty="0"/>
              <a:t>Capitalize on Positive Feedback Trends:</a:t>
            </a:r>
            <a:br>
              <a:rPr lang="en-US" sz="900" dirty="0"/>
            </a:br>
            <a:r>
              <a:rPr lang="en-US" sz="900" dirty="0"/>
              <a:t>The majority of reviews are </a:t>
            </a:r>
            <a:r>
              <a:rPr lang="en-US" sz="900" b="1" dirty="0"/>
              <a:t>Positive (292)</a:t>
            </a:r>
            <a:r>
              <a:rPr lang="en-US" sz="900" dirty="0"/>
              <a:t> with strong average ratings throughout the year. Keep reinforcing practices that contributed to this satisfaction—quality responsiveness, product reliability, and clear product descriptions</a:t>
            </a:r>
            <a:endParaRPr lang="nb-NO" sz="900" b="1" dirty="0"/>
          </a:p>
        </p:txBody>
      </p:sp>
    </p:spTree>
    <p:extLst>
      <p:ext uri="{BB962C8B-B14F-4D97-AF65-F5344CB8AC3E}">
        <p14:creationId xmlns:p14="http://schemas.microsoft.com/office/powerpoint/2010/main" val="75864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EB332-5D39-2F9D-D376-F11F47BBA5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18A62-5CAF-7996-40F4-392ACD8580FD}"/>
              </a:ext>
            </a:extLst>
          </p:cNvPr>
          <p:cNvSpPr>
            <a:spLocks noGrp="1"/>
          </p:cNvSpPr>
          <p:nvPr>
            <p:ph type="title"/>
          </p:nvPr>
        </p:nvSpPr>
        <p:spPr/>
        <p:txBody>
          <a:bodyPr/>
          <a:lstStyle/>
          <a:p>
            <a:r>
              <a:rPr lang="nb-NO" dirty="0"/>
              <a:t>Actions</a:t>
            </a:r>
          </a:p>
        </p:txBody>
      </p:sp>
      <p:sp>
        <p:nvSpPr>
          <p:cNvPr id="9" name="Content Placeholder 8">
            <a:extLst>
              <a:ext uri="{FF2B5EF4-FFF2-40B4-BE49-F238E27FC236}">
                <a16:creationId xmlns:a16="http://schemas.microsoft.com/office/drawing/2014/main" id="{E2607251-659D-42BE-DBC1-1CBA397EE755}"/>
              </a:ext>
            </a:extLst>
          </p:cNvPr>
          <p:cNvSpPr>
            <a:spLocks noGrp="1"/>
          </p:cNvSpPr>
          <p:nvPr>
            <p:ph idx="1"/>
          </p:nvPr>
        </p:nvSpPr>
        <p:spPr>
          <a:xfrm>
            <a:off x="678094" y="1397285"/>
            <a:ext cx="10675706" cy="4779678"/>
          </a:xfrm>
        </p:spPr>
        <p:txBody>
          <a:bodyPr>
            <a:noAutofit/>
          </a:bodyPr>
          <a:lstStyle/>
          <a:p>
            <a:pPr>
              <a:lnSpc>
                <a:spcPct val="120000"/>
              </a:lnSpc>
            </a:pPr>
            <a:r>
              <a:rPr lang="nb-NO" sz="1050" b="1" dirty="0" err="1"/>
              <a:t>Increase</a:t>
            </a:r>
            <a:r>
              <a:rPr lang="nb-NO" sz="1050" b="1" dirty="0"/>
              <a:t> Conversion Rates:</a:t>
            </a:r>
          </a:p>
          <a:p>
            <a:r>
              <a:rPr lang="en-US" sz="1050" b="1" dirty="0"/>
              <a:t>Focus on Products with Strong Conversion Performance:</a:t>
            </a:r>
            <a:br>
              <a:rPr lang="en-US" sz="1050" dirty="0"/>
            </a:br>
            <a:r>
              <a:rPr lang="en-US" sz="1050" dirty="0"/>
              <a:t>Products such as </a:t>
            </a:r>
            <a:r>
              <a:rPr lang="en-US" sz="1050" b="1" dirty="0"/>
              <a:t>Hockey Sticks, Climbing Rope, and Baseball Gloves</a:t>
            </a:r>
            <a:r>
              <a:rPr lang="en-US" sz="1050" dirty="0"/>
              <a:t> show the highest conversion rates. Allocate more targeted campaigns, retargeting ads, and seasonal promotions to these top converters to maximize ROI.</a:t>
            </a:r>
          </a:p>
          <a:p>
            <a:r>
              <a:rPr lang="en-US" sz="1050" b="1" dirty="0"/>
              <a:t>Optimize Low-Conversion Months:</a:t>
            </a:r>
            <a:br>
              <a:rPr lang="en-US" sz="1050" dirty="0"/>
            </a:br>
            <a:r>
              <a:rPr lang="en-US" sz="1050" dirty="0"/>
              <a:t>Months such as </a:t>
            </a:r>
            <a:r>
              <a:rPr lang="en-US" sz="1050" b="1" dirty="0"/>
              <a:t>July, August, and October</a:t>
            </a:r>
            <a:r>
              <a:rPr lang="en-US" sz="1050" dirty="0"/>
              <a:t> show noticeable drops in conversion rates. Consider running time-limited offers, bundle discounts, or product-specific campaigns during these weaker periods to stabilize yearly conversion performance.</a:t>
            </a:r>
            <a:endParaRPr lang="nb-NO" sz="1050" dirty="0"/>
          </a:p>
          <a:p>
            <a:pPr>
              <a:lnSpc>
                <a:spcPct val="120000"/>
              </a:lnSpc>
            </a:pPr>
            <a:r>
              <a:rPr lang="nb-NO" sz="1050" b="1" dirty="0" err="1"/>
              <a:t>Enhance</a:t>
            </a:r>
            <a:r>
              <a:rPr lang="nb-NO" sz="1050" b="1" dirty="0"/>
              <a:t> </a:t>
            </a:r>
            <a:r>
              <a:rPr lang="nb-NO" sz="1050" b="1" dirty="0" err="1"/>
              <a:t>Customer</a:t>
            </a:r>
            <a:r>
              <a:rPr lang="nb-NO" sz="1050" b="1" dirty="0"/>
              <a:t> </a:t>
            </a:r>
            <a:r>
              <a:rPr lang="nb-NO" sz="1050" b="1" dirty="0" err="1"/>
              <a:t>Engagement</a:t>
            </a:r>
            <a:r>
              <a:rPr lang="nb-NO" sz="1050" b="1" dirty="0"/>
              <a:t>:</a:t>
            </a:r>
          </a:p>
          <a:p>
            <a:r>
              <a:rPr lang="en-US" sz="1050" dirty="0"/>
              <a:t>Introduce more </a:t>
            </a:r>
            <a:r>
              <a:rPr lang="en-US" sz="1050" b="1" dirty="0"/>
              <a:t>interactive content</a:t>
            </a:r>
            <a:r>
              <a:rPr lang="en-US" sz="1050" dirty="0"/>
              <a:t>, such as quick reels, product demos, or comparison videos.</a:t>
            </a:r>
          </a:p>
          <a:p>
            <a:r>
              <a:rPr lang="en-US" sz="1050" dirty="0"/>
              <a:t>Strengthen the </a:t>
            </a:r>
            <a:r>
              <a:rPr lang="en-US" sz="1050" b="1" dirty="0"/>
              <a:t>call-to-action</a:t>
            </a:r>
            <a:r>
              <a:rPr lang="en-US" sz="1050" dirty="0"/>
              <a:t> across blog, video, and social media posts.</a:t>
            </a:r>
          </a:p>
          <a:p>
            <a:r>
              <a:rPr lang="en-US" sz="1050" dirty="0"/>
              <a:t>Increase publishing frequency during historically weak months (</a:t>
            </a:r>
            <a:r>
              <a:rPr lang="en-US" sz="1050" b="1" dirty="0"/>
              <a:t>September–December</a:t>
            </a:r>
            <a:r>
              <a:rPr lang="en-US" sz="1050" dirty="0"/>
              <a:t>) to revive reach.</a:t>
            </a:r>
          </a:p>
          <a:p>
            <a:r>
              <a:rPr lang="en-US" sz="1050" b="1" dirty="0"/>
              <a:t>Prioritize High-Performing Content Types:</a:t>
            </a:r>
            <a:br>
              <a:rPr lang="en-US" sz="1050" dirty="0"/>
            </a:br>
            <a:r>
              <a:rPr lang="en-US" sz="1050" dirty="0"/>
              <a:t>Blogs generate the highest views across months, especially in </a:t>
            </a:r>
            <a:r>
              <a:rPr lang="en-US" sz="1050" b="1" dirty="0"/>
              <a:t>April and July</a:t>
            </a:r>
            <a:r>
              <a:rPr lang="en-US" sz="1050" dirty="0"/>
              <a:t>.</a:t>
            </a:r>
            <a:br>
              <a:rPr lang="en-US" sz="1050" dirty="0"/>
            </a:br>
            <a:r>
              <a:rPr lang="en-US" sz="1050" dirty="0"/>
              <a:t>Double down on blog content while optimizing social media and video posts to catch up, possibly by repurposing high-performing blog topics into video formats.</a:t>
            </a:r>
            <a:endParaRPr lang="nb-NO" sz="1050" dirty="0"/>
          </a:p>
          <a:p>
            <a:pPr>
              <a:lnSpc>
                <a:spcPct val="120000"/>
              </a:lnSpc>
            </a:pPr>
            <a:r>
              <a:rPr lang="nb-NO" sz="1050" b="1" dirty="0"/>
              <a:t>Improve Customer Feedback Scores:</a:t>
            </a:r>
          </a:p>
          <a:p>
            <a:pPr>
              <a:lnSpc>
                <a:spcPct val="120000"/>
              </a:lnSpc>
            </a:pPr>
            <a:r>
              <a:rPr lang="en-US" sz="1050" b="1" dirty="0"/>
              <a:t>Capitalize on Positive Feedback Trends:</a:t>
            </a:r>
            <a:br>
              <a:rPr lang="en-US" sz="1050" dirty="0"/>
            </a:br>
            <a:r>
              <a:rPr lang="en-US" sz="1050" dirty="0"/>
              <a:t>The majority of reviews are </a:t>
            </a:r>
            <a:r>
              <a:rPr lang="en-US" sz="1050" b="1" dirty="0"/>
              <a:t>Positive (292)</a:t>
            </a:r>
            <a:r>
              <a:rPr lang="en-US" sz="1050" dirty="0"/>
              <a:t> with strong average ratings throughout the year. Keep reinforcing practices that contributed to this satisfaction—quality responsiveness, product reliability, and clear product descriptions</a:t>
            </a:r>
          </a:p>
          <a:p>
            <a:r>
              <a:rPr lang="en-US" sz="1050" dirty="0"/>
              <a:t>Negative (81) and Mixed Negative (56) feedback points reveal improvement areas.</a:t>
            </a:r>
            <a:br>
              <a:rPr lang="en-US" sz="1050" dirty="0"/>
            </a:br>
            <a:r>
              <a:rPr lang="en-US" sz="1050" dirty="0"/>
              <a:t>Recommended actions:</a:t>
            </a:r>
          </a:p>
          <a:p>
            <a:r>
              <a:rPr lang="en-US" sz="1050" dirty="0"/>
              <a:t>Perform sentiment clustering to identify recurring issues (e.g., delivery time, product defects, sizing).</a:t>
            </a:r>
          </a:p>
          <a:p>
            <a:r>
              <a:rPr lang="en-US" sz="1050" dirty="0"/>
              <a:t>Respond proactively to dissatisfied customers through follow-up emails or support tickets.</a:t>
            </a:r>
          </a:p>
          <a:p>
            <a:pPr>
              <a:lnSpc>
                <a:spcPct val="120000"/>
              </a:lnSpc>
            </a:pPr>
            <a:endParaRPr lang="nb-NO" sz="900" b="1" dirty="0"/>
          </a:p>
        </p:txBody>
      </p:sp>
    </p:spTree>
    <p:extLst>
      <p:ext uri="{BB962C8B-B14F-4D97-AF65-F5344CB8AC3E}">
        <p14:creationId xmlns:p14="http://schemas.microsoft.com/office/powerpoint/2010/main" val="82599492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291</TotalTime>
  <Words>1450</Words>
  <Application>Microsoft Office PowerPoint</Application>
  <PresentationFormat>Widescreen</PresentationFormat>
  <Paragraphs>82</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Data Presentation</vt:lpstr>
      <vt:lpstr>Overview</vt:lpstr>
      <vt:lpstr>Decreased Conversion Rates</vt:lpstr>
      <vt:lpstr>Reduced Customer Engagement</vt:lpstr>
      <vt:lpstr>Customer Feedback Analysis</vt:lpstr>
      <vt:lpstr>Customer Feedback Analysis</vt:lpstr>
      <vt:lpstr>Goals &amp; Actions</vt:lpstr>
      <vt:lpstr>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Alaa Nader</cp:lastModifiedBy>
  <cp:revision>2</cp:revision>
  <dcterms:created xsi:type="dcterms:W3CDTF">2024-09-03T15:16:05Z</dcterms:created>
  <dcterms:modified xsi:type="dcterms:W3CDTF">2026-02-23T01:40:27Z</dcterms:modified>
</cp:coreProperties>
</file>